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62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823960" y="0"/>
            <a:ext cx="3383280" cy="68580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55480" y="777240"/>
            <a:ext cx="1828800" cy="1828800"/>
          </a:xfrm>
          <a:prstGeom prst="round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098280" y="2971800"/>
            <a:ext cx="2651760" cy="109728"/>
          </a:xfrm>
          <a:prstGeom prst="rect">
            <a:avLst/>
          </a:prstGeom>
          <a:solidFill>
            <a:srgbClr val="3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875520" y="3657600"/>
            <a:ext cx="1234440" cy="1234440"/>
          </a:xfrm>
          <a:prstGeom prst="roundRect">
            <a:avLst/>
          </a:prstGeom>
          <a:solidFill>
            <a:srgbClr val="3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52560" y="5257800"/>
            <a:ext cx="2103120" cy="109728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58368"/>
            <a:ext cx="71323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39D3E8"/>
                </a:solidFill>
                <a:latin typeface="Aptos"/>
              </a:rPr>
              <a:t>ASA 23  |  PRACTICAL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777240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800" b="1">
                <a:solidFill>
                  <a:srgbClr val="F4F7FC"/>
                </a:solidFill>
                <a:latin typeface="Aptos"/>
              </a:rPr>
              <a:t>SmartWork-AI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7315200" cy="1143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600" b="1">
                <a:solidFill>
                  <a:srgbClr val="3689FF"/>
                </a:solidFill>
                <a:latin typeface="Aptos"/>
              </a:rPr>
              <a:t>AI-Powered Workplace
Productivity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886200"/>
            <a:ext cx="704088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AEBCD2"/>
                </a:solidFill>
                <a:latin typeface="Aptos"/>
              </a:rPr>
              <a:t>A practical concept for making everyday work clearer, faster and more organised.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715000"/>
            <a:ext cx="71323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Prepared by: Thembalihle Sakhile Ngubane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6108192"/>
            <a:ext cx="71323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>
                <a:solidFill>
                  <a:srgbClr val="AEBCD2"/>
                </a:solidFill>
                <a:latin typeface="Aptos"/>
              </a:rPr>
              <a:t>Software Development  •  Beginner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875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39D3E8"/>
                </a:solidFill>
                <a:latin typeface="Aptos"/>
              </a:rPr>
              <a:t>01  / 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The workplace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51560" cy="50292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AEBCD2"/>
                </a:solidFill>
                <a:latin typeface="Aptos"/>
              </a:rPr>
              <a:t>ASA 23  •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91640"/>
            <a:ext cx="1051560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100" b="0">
                <a:solidFill>
                  <a:srgbClr val="F4F7FC"/>
                </a:solidFill>
                <a:latin typeface="Aptos"/>
              </a:rPr>
              <a:t>Everyday work involves repeated writing, information processing and planning. These tasks can consume time that could be spent on higher-value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3429000" cy="205740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44952"/>
            <a:ext cx="50292" cy="1728216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3081528"/>
            <a:ext cx="30632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Writing takes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538728"/>
            <a:ext cx="3044952" cy="1271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EBCD2"/>
                </a:solidFill>
                <a:latin typeface="Aptos"/>
              </a:rPr>
              <a:t>Emails and professional messages need the right tone, structure and clarity.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80360"/>
            <a:ext cx="3429000" cy="205740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3044952"/>
            <a:ext cx="50292" cy="1728216"/>
          </a:xfrm>
          <a:prstGeom prst="rect">
            <a:avLst/>
          </a:prstGeom>
          <a:solidFill>
            <a:srgbClr val="3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3081528"/>
            <a:ext cx="30632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Information overload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538728"/>
            <a:ext cx="3044952" cy="1271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EBCD2"/>
                </a:solidFill>
                <a:latin typeface="Aptos"/>
              </a:rPr>
              <a:t>Meetings and research can produce notes that are difficult to organise.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80360"/>
            <a:ext cx="3429000" cy="205740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3044952"/>
            <a:ext cx="50292" cy="1728216"/>
          </a:xfrm>
          <a:prstGeom prst="rect">
            <a:avLst/>
          </a:prstGeom>
          <a:solidFill>
            <a:srgbClr val="53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3081528"/>
            <a:ext cx="30632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Planning is demanding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538728"/>
            <a:ext cx="3044952" cy="1271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EBCD2"/>
                </a:solidFill>
                <a:latin typeface="Aptos"/>
              </a:rPr>
              <a:t>Tasks and priorities are easier to manage when broken into clear next steps.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623560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39D3E8"/>
                </a:solidFill>
                <a:latin typeface="Aptos"/>
              </a:rPr>
              <a:t>Project idea: bring common productivity helpers together in one simple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875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39D3E8"/>
                </a:solidFill>
                <a:latin typeface="Aptos"/>
              </a:rPr>
              <a:t>02  / 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Project aim and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51560" cy="50292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AEBCD2"/>
                </a:solidFill>
                <a:latin typeface="Aptos"/>
              </a:rPr>
              <a:t>ASA 23  •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1887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39D3E8"/>
                </a:solidFill>
                <a:latin typeface="Aptos"/>
              </a:rPr>
              <a:t>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424160" cy="7772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0">
                <a:solidFill>
                  <a:srgbClr val="F4F7FC"/>
                </a:solidFill>
                <a:latin typeface="Aptos"/>
              </a:rPr>
              <a:t>Create a simple assistant concept that supports common workplace productivity tasks using AI-inspired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39D3E8"/>
                </a:solidFill>
                <a:latin typeface="Aptos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424160" cy="2057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9D3E8"/>
                </a:solidFill>
                <a:latin typeface="Aptos"/>
              </a:rPr>
              <a:t>•  </a:t>
            </a:r>
            <a:r>
              <a:rPr sz="1700">
                <a:solidFill>
                  <a:srgbClr val="F4F7FC"/>
                </a:solidFill>
                <a:latin typeface="Aptos"/>
              </a:rPr>
              <a:t>Generate clearer professional emails and messages.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9D3E8"/>
                </a:solidFill>
                <a:latin typeface="Aptos"/>
              </a:rPr>
              <a:t>•  </a:t>
            </a:r>
            <a:r>
              <a:rPr sz="1700">
                <a:solidFill>
                  <a:srgbClr val="F4F7FC"/>
                </a:solidFill>
                <a:latin typeface="Aptos"/>
              </a:rPr>
              <a:t>Turn meeting notes into concise summaries and action items.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9D3E8"/>
                </a:solidFill>
                <a:latin typeface="Aptos"/>
              </a:rPr>
              <a:t>•  </a:t>
            </a:r>
            <a:r>
              <a:rPr sz="1700">
                <a:solidFill>
                  <a:srgbClr val="F4F7FC"/>
                </a:solidFill>
                <a:latin typeface="Aptos"/>
              </a:rPr>
              <a:t>Organise tasks into manageable priorities and steps.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9D3E8"/>
                </a:solidFill>
                <a:latin typeface="Aptos"/>
              </a:rPr>
              <a:t>•  </a:t>
            </a:r>
            <a:r>
              <a:rPr sz="1700">
                <a:solidFill>
                  <a:srgbClr val="F4F7FC"/>
                </a:solidFill>
                <a:latin typeface="Aptos"/>
              </a:rPr>
              <a:t>Structure research questions and key points.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9D3E8"/>
                </a:solidFill>
                <a:latin typeface="Aptos"/>
              </a:rPr>
              <a:t>•  </a:t>
            </a:r>
            <a:r>
              <a:rPr sz="1700">
                <a:solidFill>
                  <a:srgbClr val="F4F7FC"/>
                </a:solidFill>
                <a:latin typeface="Aptos"/>
              </a:rPr>
              <a:t>Provide a chatbot-style interaction area for common prompts.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875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39D3E8"/>
                </a:solidFill>
                <a:latin typeface="Aptos"/>
              </a:rPr>
              <a:t>03  /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Core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51560" cy="50292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AEBCD2"/>
                </a:solidFill>
                <a:latin typeface="Aptos"/>
              </a:rPr>
              <a:t>ASA 23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154680" cy="164592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01952"/>
            <a:ext cx="50292" cy="1316736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38528"/>
            <a:ext cx="278892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01  Email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2770632" cy="85953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AEBCD2"/>
                </a:solidFill>
                <a:latin typeface="Aptos"/>
              </a:rPr>
              <a:t>Draft a professional email from a short description.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737360"/>
            <a:ext cx="3154680" cy="164592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901952"/>
            <a:ext cx="50292" cy="1316736"/>
          </a:xfrm>
          <a:prstGeom prst="rect">
            <a:avLst/>
          </a:prstGeom>
          <a:solidFill>
            <a:srgbClr val="3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938528"/>
            <a:ext cx="278892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02  Meeting summariser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395728"/>
            <a:ext cx="2770632" cy="85953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AEBCD2"/>
                </a:solidFill>
                <a:latin typeface="Aptos"/>
              </a:rPr>
              <a:t>Convert supplied notes into a summary and action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737360"/>
            <a:ext cx="3154680" cy="164592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901952"/>
            <a:ext cx="50292" cy="1316736"/>
          </a:xfrm>
          <a:prstGeom prst="rect">
            <a:avLst/>
          </a:prstGeom>
          <a:solidFill>
            <a:srgbClr val="53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1938528"/>
            <a:ext cx="278892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03  Task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395728"/>
            <a:ext cx="2770632" cy="85953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AEBCD2"/>
                </a:solidFill>
                <a:latin typeface="Aptos"/>
              </a:rPr>
              <a:t>Break a goal into steps and suggested priorities.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3886200"/>
            <a:ext cx="3154680" cy="164592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06040" y="4050791"/>
            <a:ext cx="50292" cy="1316736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07208" y="4087368"/>
            <a:ext cx="278892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04  Research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4544568"/>
            <a:ext cx="2770632" cy="85953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AEBCD2"/>
                </a:solidFill>
                <a:latin typeface="Aptos"/>
              </a:rPr>
              <a:t>Organise a topic into research questions and themes.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886200"/>
            <a:ext cx="3154680" cy="164592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4050791"/>
            <a:ext cx="50292" cy="1316736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01968" y="4087368"/>
            <a:ext cx="278892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05  Chat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544568"/>
            <a:ext cx="2770632" cy="85953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AEBCD2"/>
                </a:solidFill>
                <a:latin typeface="Aptos"/>
              </a:rPr>
              <a:t>Offer a simple prompt-and-response style workspace.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875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39D3E8"/>
                </a:solidFill>
                <a:latin typeface="Aptos"/>
              </a:rPr>
              <a:t>04  / 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How the user journey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51560" cy="50292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AEBCD2"/>
                </a:solidFill>
                <a:latin typeface="Aptos"/>
              </a:rPr>
              <a:t>ASA 23  •  05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12264"/>
            <a:ext cx="5669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0C122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468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Choose a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10128"/>
            <a:ext cx="2423160" cy="1143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EBCD2"/>
                </a:solidFill>
                <a:latin typeface="Aptos"/>
              </a:rPr>
              <a:t>Select email, meeting, tasks, research or chat.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35607" y="2258568"/>
            <a:ext cx="2011680" cy="32004"/>
          </a:xfrm>
          <a:prstGeom prst="rect">
            <a:avLst/>
          </a:prstGeom>
          <a:solidFill>
            <a:srgbClr val="37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30168" y="2011680"/>
            <a:ext cx="566928" cy="566928"/>
          </a:xfrm>
          <a:prstGeom prst="ellipse">
            <a:avLst/>
          </a:prstGeom>
          <a:solidFill>
            <a:srgbClr val="3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2112264"/>
            <a:ext cx="5669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0C122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834640"/>
            <a:ext cx="2468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Add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310128"/>
            <a:ext cx="2423160" cy="1143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EBCD2"/>
                </a:solidFill>
                <a:latin typeface="Aptos"/>
              </a:rPr>
              <a:t>Enter the goal, notes or details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8536" y="2258568"/>
            <a:ext cx="2011680" cy="32004"/>
          </a:xfrm>
          <a:prstGeom prst="rect">
            <a:avLst/>
          </a:prstGeom>
          <a:solidFill>
            <a:srgbClr val="37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83096" y="2011680"/>
            <a:ext cx="566928" cy="566928"/>
          </a:xfrm>
          <a:prstGeom prst="ellipse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3096" y="2112264"/>
            <a:ext cx="5669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0C1220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834640"/>
            <a:ext cx="2468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Generate a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310128"/>
            <a:ext cx="2423160" cy="1143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EBCD2"/>
                </a:solidFill>
                <a:latin typeface="Aptos"/>
              </a:rPr>
              <a:t>The prototype formats a structured response.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41464" y="2258568"/>
            <a:ext cx="2011680" cy="32004"/>
          </a:xfrm>
          <a:prstGeom prst="rect">
            <a:avLst/>
          </a:prstGeom>
          <a:solidFill>
            <a:srgbClr val="37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36024" y="2011680"/>
            <a:ext cx="566928" cy="566928"/>
          </a:xfrm>
          <a:prstGeom prst="ellipse">
            <a:avLst/>
          </a:prstGeom>
          <a:solidFill>
            <a:srgbClr val="3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6024" y="2112264"/>
            <a:ext cx="5669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0C1220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834640"/>
            <a:ext cx="2468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Review &amp; refine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3310128"/>
            <a:ext cx="2423160" cy="1143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AEBCD2"/>
                </a:solidFill>
                <a:latin typeface="Aptos"/>
              </a:rPr>
              <a:t>Check accuracy, edit wording and use only what is appropriate.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39D3E8"/>
                </a:solidFill>
                <a:latin typeface="Aptos"/>
              </a:rPr>
              <a:t>Human review remains essential: the tool supports the user, it does not replace their judgement.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875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39D3E8"/>
                </a:solidFill>
                <a:latin typeface="Aptos"/>
              </a:rPr>
              <a:t>05  /  AI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Prompt engineering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51560" cy="50292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AEBCD2"/>
                </a:solidFill>
                <a:latin typeface="Aptos"/>
              </a:rPr>
              <a:t>ASA 23  •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105156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>
                <a:solidFill>
                  <a:srgbClr val="F4F7FC"/>
                </a:solidFill>
                <a:latin typeface="Aptos"/>
              </a:rPr>
              <a:t>A useful prompt gives the assistant a clear role, context, task, constraints and output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5074920" cy="251460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770632"/>
            <a:ext cx="50292" cy="2185416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807208"/>
            <a:ext cx="4709159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4F7FC"/>
                </a:solidFill>
                <a:latin typeface="Aptos"/>
              </a:rPr>
              <a:t>Weak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264408"/>
            <a:ext cx="4690872" cy="17282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EBCD2"/>
                </a:solidFill>
                <a:latin typeface="Aptos"/>
              </a:rPr>
              <a:t>“Write an email.”
Problem: audience, purpose, tone and details are missing.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606040"/>
            <a:ext cx="5074920" cy="251460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2770632"/>
            <a:ext cx="50292" cy="2185416"/>
          </a:xfrm>
          <a:prstGeom prst="rect">
            <a:avLst/>
          </a:prstGeom>
          <a:solidFill>
            <a:srgbClr val="53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2807208"/>
            <a:ext cx="4709159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4F7FC"/>
                </a:solidFill>
                <a:latin typeface="Aptos"/>
              </a:rPr>
              <a:t>Stronger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264408"/>
            <a:ext cx="4690872" cy="17282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EBCD2"/>
                </a:solidFill>
                <a:latin typeface="Aptos"/>
              </a:rPr>
              <a:t>“Draft a polite email to my team explaining that Friday’s meeting has moved to 14:00. Keep it under 120 words and include a clear subject line.”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6070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39D3E8"/>
                </a:solidFill>
                <a:latin typeface="Aptos"/>
              </a:rPr>
              <a:t>Prompt checklist: Role  •  Context  •  Task  •  Constraints  •  Output format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875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39D3E8"/>
                </a:solidFill>
                <a:latin typeface="Aptos"/>
              </a:rPr>
              <a:t>06  / 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Technology and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51560" cy="50292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AEBCD2"/>
                </a:solidFill>
                <a:latin typeface="Aptos"/>
              </a:rPr>
              <a:t>ASA 23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3383280" cy="182880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947672"/>
            <a:ext cx="50292" cy="1499616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84248"/>
            <a:ext cx="301752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4F7FC"/>
                </a:solidFill>
                <a:latin typeface="Aptos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41448"/>
            <a:ext cx="2999232" cy="10424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EBCD2"/>
                </a:solidFill>
                <a:latin typeface="Aptos"/>
              </a:rPr>
              <a:t>Provides the page structure, input fields, buttons and content areas.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83280" cy="182880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947672"/>
            <a:ext cx="50292" cy="1499616"/>
          </a:xfrm>
          <a:prstGeom prst="rect">
            <a:avLst/>
          </a:prstGeom>
          <a:solidFill>
            <a:srgbClr val="3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984248"/>
            <a:ext cx="301752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4F7FC"/>
                </a:solidFill>
                <a:latin typeface="Aptos"/>
              </a:rP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441448"/>
            <a:ext cx="2999232" cy="10424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EBCD2"/>
                </a:solidFill>
                <a:latin typeface="Aptos"/>
              </a:rPr>
              <a:t>Creates the dark theme, blue accents, responsive layout and visual hierarchy.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83080"/>
            <a:ext cx="3383280" cy="182880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28431" y="1947672"/>
            <a:ext cx="50292" cy="1499616"/>
          </a:xfrm>
          <a:prstGeom prst="rect">
            <a:avLst/>
          </a:prstGeom>
          <a:solidFill>
            <a:srgbClr val="53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984248"/>
            <a:ext cx="301752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4F7FC"/>
                </a:solidFill>
                <a:latin typeface="Aptos"/>
              </a:rP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41448"/>
            <a:ext cx="2999232" cy="10424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EBCD2"/>
                </a:solidFill>
                <a:latin typeface="Aptos"/>
              </a:rPr>
              <a:t>Connects interface controls to simple local response templates.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32004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FB74D"/>
                </a:solidFill>
                <a:latin typeface="Aptos"/>
              </a:rPr>
              <a:t>Current prototype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1042416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0">
                <a:solidFill>
                  <a:srgbClr val="F4F7FC"/>
                </a:solidFill>
                <a:latin typeface="Aptos"/>
              </a:rPr>
              <a:t>The starter version demonstrates the interface and workflows, but its responses are template-based. It does not yet connect to a live AI model or API.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EBCD2"/>
                </a:solidFill>
                <a:latin typeface="Aptos"/>
              </a:rPr>
              <a:t>A future version could connect to an approved AI API with secure server-side handling of credentials.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875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39D3E8"/>
                </a:solidFill>
                <a:latin typeface="Aptos"/>
              </a:rPr>
              <a:t>07  / 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Responsible and ethical AI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51560" cy="50292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AEBCD2"/>
                </a:solidFill>
                <a:latin typeface="Aptos"/>
              </a:rPr>
              <a:t>ASA 23  •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658368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56232"/>
            <a:ext cx="50292" cy="329184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892808"/>
            <a:ext cx="101498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F4F7FC"/>
                </a:solidFill>
                <a:latin typeface="Aptos"/>
              </a:rPr>
              <a:t>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50008"/>
            <a:ext cx="10131552" cy="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>
                <a:solidFill>
                  <a:srgbClr val="AEBCD2"/>
                </a:solidFill>
                <a:latin typeface="Aptos"/>
              </a:rPr>
              <a:t>Do not paste passwords, confidential business data or unnecessary personal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32888"/>
            <a:ext cx="10515600" cy="658368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697480"/>
            <a:ext cx="50292" cy="329184"/>
          </a:xfrm>
          <a:prstGeom prst="rect">
            <a:avLst/>
          </a:prstGeom>
          <a:solidFill>
            <a:srgbClr val="3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734056"/>
            <a:ext cx="101498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F4F7FC"/>
                </a:solidFill>
                <a:latin typeface="Aptos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191256"/>
            <a:ext cx="10131552" cy="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>
                <a:solidFill>
                  <a:srgbClr val="AEBCD2"/>
                </a:solidFill>
                <a:latin typeface="Aptos"/>
              </a:rPr>
              <a:t>Check facts, dates, names and calculations before acting on a generated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74136"/>
            <a:ext cx="10515600" cy="658368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538728"/>
            <a:ext cx="50292" cy="329184"/>
          </a:xfrm>
          <a:prstGeom prst="rect">
            <a:avLst/>
          </a:prstGeom>
          <a:solidFill>
            <a:srgbClr val="53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575304"/>
            <a:ext cx="101498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F4F7FC"/>
                </a:solidFill>
                <a:latin typeface="Aptos"/>
              </a:rPr>
              <a:t>Bias &amp; fairness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032504"/>
            <a:ext cx="10131552" cy="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>
                <a:solidFill>
                  <a:srgbClr val="AEBCD2"/>
                </a:solidFill>
                <a:latin typeface="Aptos"/>
              </a:rPr>
              <a:t>Review wording and recommendations for unfair assumptions or exclusion.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15384"/>
            <a:ext cx="10515600" cy="658368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379976"/>
            <a:ext cx="50292" cy="32918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416552"/>
            <a:ext cx="101498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F4F7FC"/>
                </a:solidFill>
                <a:latin typeface="Aptos"/>
              </a:rPr>
              <a:t>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873752"/>
            <a:ext cx="10131552" cy="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>
                <a:solidFill>
                  <a:srgbClr val="AEBCD2"/>
                </a:solidFill>
                <a:latin typeface="Aptos"/>
              </a:rPr>
              <a:t>Disclose AI assistance when required by school, workplace or policy.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56632"/>
            <a:ext cx="10515600" cy="658368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5221224"/>
            <a:ext cx="50292" cy="329184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5257800"/>
            <a:ext cx="101498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F4F7FC"/>
                </a:solidFill>
                <a:latin typeface="Aptos"/>
              </a:rPr>
              <a:t>Human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715000"/>
            <a:ext cx="10131552" cy="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>
                <a:solidFill>
                  <a:srgbClr val="AEBCD2"/>
                </a:solidFill>
                <a:latin typeface="Aptos"/>
              </a:rPr>
              <a:t>The user makes the final decision and takes responsibility for what is sent or submitted.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875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39D3E8"/>
                </a:solidFill>
                <a:latin typeface="Aptos"/>
              </a:rPr>
              <a:t>08  / 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Testing and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51560" cy="50292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AEBCD2"/>
                </a:solidFill>
                <a:latin typeface="Aptos"/>
              </a:rPr>
              <a:t>ASA 23  •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105156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>
                <a:solidFill>
                  <a:srgbClr val="F4F7FC"/>
                </a:solidFill>
                <a:latin typeface="Aptos"/>
              </a:rPr>
              <a:t>The prototype should be tested with realistic examples before being presented as 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2971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9D3E8"/>
                </a:solidFill>
                <a:latin typeface="Aptos"/>
              </a:rPr>
              <a:t>•  </a:t>
            </a:r>
            <a:r>
              <a:rPr sz="1700">
                <a:solidFill>
                  <a:srgbClr val="F4F7FC"/>
                </a:solidFill>
                <a:latin typeface="Aptos"/>
              </a:rPr>
              <a:t>Functionality: each tool accepts input and produces a readable output.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9D3E8"/>
                </a:solidFill>
                <a:latin typeface="Aptos"/>
              </a:rPr>
              <a:t>•  </a:t>
            </a:r>
            <a:r>
              <a:rPr sz="1700">
                <a:solidFill>
                  <a:srgbClr val="F4F7FC"/>
                </a:solidFill>
                <a:latin typeface="Aptos"/>
              </a:rPr>
              <a:t>Usability: labels, instructions and buttons are easy to understand.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9D3E8"/>
                </a:solidFill>
                <a:latin typeface="Aptos"/>
              </a:rPr>
              <a:t>•  </a:t>
            </a:r>
            <a:r>
              <a:rPr sz="1700">
                <a:solidFill>
                  <a:srgbClr val="F4F7FC"/>
                </a:solidFill>
                <a:latin typeface="Aptos"/>
              </a:rPr>
              <a:t>Responsiveness: the interface remains usable on desktop, tablet and mobile.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9D3E8"/>
                </a:solidFill>
                <a:latin typeface="Aptos"/>
              </a:rPr>
              <a:t>•  </a:t>
            </a:r>
            <a:r>
              <a:rPr sz="1700">
                <a:solidFill>
                  <a:srgbClr val="F4F7FC"/>
                </a:solidFill>
                <a:latin typeface="Aptos"/>
              </a:rPr>
              <a:t>Output quality: responses are relevant, well structured and easy to edit.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9D3E8"/>
                </a:solidFill>
                <a:latin typeface="Aptos"/>
              </a:rPr>
              <a:t>•  </a:t>
            </a:r>
            <a:r>
              <a:rPr sz="1700">
                <a:solidFill>
                  <a:srgbClr val="F4F7FC"/>
                </a:solidFill>
                <a:latin typeface="Aptos"/>
              </a:rPr>
              <a:t>Safety: users are reminded to review content and avoid sensitive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39D3E8"/>
                </a:solidFill>
                <a:latin typeface="Aptos"/>
              </a:rPr>
              <a:t>Evidence to collect: screenshots, test cases, issues found and improvements made.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875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39D3E8"/>
                </a:solidFill>
                <a:latin typeface="Aptos"/>
              </a:rPr>
              <a:t>09  / 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GitHub and project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51560" cy="50292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AEBCD2"/>
                </a:solidFill>
                <a:latin typeface="Aptos"/>
              </a:rPr>
              <a:t>ASA 23  •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377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39D3E8"/>
                </a:solidFill>
                <a:latin typeface="Aptos"/>
              </a:rPr>
              <a:t>Repository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45720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>
                <a:solidFill>
                  <a:srgbClr val="F4F7FC"/>
                </a:solidFill>
                <a:latin typeface="Aptos"/>
              </a:rPr>
              <a:t>SmartWork-AI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5720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39D3E8"/>
                </a:solidFill>
                <a:latin typeface="Aptos"/>
              </a:rPr>
              <a:t>Recommended repository 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5212080" cy="2148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39D3E8"/>
                </a:solidFill>
                <a:latin typeface="Aptos"/>
              </a:rPr>
              <a:t>•  </a:t>
            </a:r>
            <a:r>
              <a:rPr sz="1500">
                <a:solidFill>
                  <a:srgbClr val="F4F7FC"/>
                </a:solidFill>
                <a:latin typeface="Aptos"/>
              </a:rPr>
              <a:t>index.html — page structure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9D3E8"/>
                </a:solidFill>
                <a:latin typeface="Aptos"/>
              </a:rPr>
              <a:t>•  </a:t>
            </a:r>
            <a:r>
              <a:rPr sz="1500">
                <a:solidFill>
                  <a:srgbClr val="F4F7FC"/>
                </a:solidFill>
                <a:latin typeface="Aptos"/>
              </a:rPr>
              <a:t>style.css — styling and responsive layout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9D3E8"/>
                </a:solidFill>
                <a:latin typeface="Aptos"/>
              </a:rPr>
              <a:t>•  </a:t>
            </a:r>
            <a:r>
              <a:rPr sz="1500">
                <a:solidFill>
                  <a:srgbClr val="F4F7FC"/>
                </a:solidFill>
                <a:latin typeface="Aptos"/>
              </a:rPr>
              <a:t>script.js — interface behaviour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9D3E8"/>
                </a:solidFill>
                <a:latin typeface="Aptos"/>
              </a:rPr>
              <a:t>•  </a:t>
            </a:r>
            <a:r>
              <a:rPr sz="1500">
                <a:solidFill>
                  <a:srgbClr val="F4F7FC"/>
                </a:solidFill>
                <a:latin typeface="Aptos"/>
              </a:rPr>
              <a:t>README.md — purpose, features, setup and limitations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4663440" cy="324612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993392"/>
            <a:ext cx="50292" cy="2916936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2029968"/>
            <a:ext cx="4297679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4F7FC"/>
                </a:solidFill>
                <a:latin typeface="Aptos"/>
              </a:rPr>
              <a:t>README should 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4279392" cy="245973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AEBCD2"/>
                </a:solidFill>
                <a:latin typeface="Aptos"/>
              </a:rPr>
              <a:t>• Project purpose and intended users
• Main features
• How to run the prototype
• Technologies used
• Current limitations
• Responsible AI considerations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AEBCD2"/>
                </a:solidFill>
                <a:latin typeface="Aptos"/>
              </a:rPr>
              <a:t>Keep files separate; upload through GitHub’s Add file → Upload files, or create each file directly in the repository.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875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39D3E8"/>
                </a:solidFill>
                <a:latin typeface="Aptos"/>
              </a:rPr>
              <a:t>10  / 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Next steps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51560" cy="50292"/>
          </a:xfrm>
          <a:prstGeom prst="rect">
            <a:avLst/>
          </a:prstGeom>
          <a:solidFill>
            <a:srgbClr val="3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00" b="0">
                <a:solidFill>
                  <a:srgbClr val="AEBCD2"/>
                </a:solidFill>
                <a:latin typeface="Aptos"/>
              </a:rPr>
              <a:t>ASA 23  •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24128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>
                <a:solidFill>
                  <a:srgbClr val="F4F7FC"/>
                </a:solidFill>
                <a:latin typeface="Aptos"/>
              </a:rPr>
              <a:t>SmartWork-AI explores how AI-assisted workflows can support everyday workplace productivity.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24128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39D3E8"/>
                </a:solidFill>
                <a:latin typeface="Aptos"/>
              </a:rPr>
              <a:t>•  </a:t>
            </a:r>
            <a:r>
              <a:rPr sz="1800">
                <a:solidFill>
                  <a:srgbClr val="F4F7FC"/>
                </a:solidFill>
                <a:latin typeface="Aptos"/>
              </a:rPr>
              <a:t>Finish uploading all project files to GitHub.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9D3E8"/>
                </a:solidFill>
                <a:latin typeface="Aptos"/>
              </a:rPr>
              <a:t>•  </a:t>
            </a:r>
            <a:r>
              <a:rPr sz="1800">
                <a:solidFill>
                  <a:srgbClr val="F4F7FC"/>
                </a:solidFill>
                <a:latin typeface="Aptos"/>
              </a:rPr>
              <a:t>Test each feature and capture screenshots for evidence.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9D3E8"/>
                </a:solidFill>
                <a:latin typeface="Aptos"/>
              </a:rPr>
              <a:t>•  </a:t>
            </a:r>
            <a:r>
              <a:rPr sz="1800">
                <a:solidFill>
                  <a:srgbClr val="F4F7FC"/>
                </a:solidFill>
                <a:latin typeface="Aptos"/>
              </a:rPr>
              <a:t>Improve the prompt examples using feedback.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9D3E8"/>
                </a:solidFill>
                <a:latin typeface="Aptos"/>
              </a:rPr>
              <a:t>•  </a:t>
            </a:r>
            <a:r>
              <a:rPr sz="1800">
                <a:solidFill>
                  <a:srgbClr val="F4F7FC"/>
                </a:solidFill>
                <a:latin typeface="Aptos"/>
              </a:rPr>
              <a:t>If live AI is required, integrate an approved model securely.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9D3E8"/>
                </a:solidFill>
                <a:latin typeface="Aptos"/>
              </a:rPr>
              <a:t>•  </a:t>
            </a:r>
            <a:r>
              <a:rPr sz="1800">
                <a:solidFill>
                  <a:srgbClr val="F4F7FC"/>
                </a:solidFill>
                <a:latin typeface="Aptos"/>
              </a:rPr>
              <a:t>Present both the benefits and limitations honestly.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700" b="1">
                <a:solidFill>
                  <a:srgbClr val="39D3E8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815584"/>
            <a:ext cx="18288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AEBCD2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925</Words>
  <Application>Microsoft Office PowerPoint</Application>
  <PresentationFormat>Widescreen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CAPACITI-JHB</dc:creator>
  <cp:keywords/>
  <dc:description>generated using python-pptx</dc:description>
  <cp:lastModifiedBy>Matheko Moshoeshoe</cp:lastModifiedBy>
  <cp:revision>2</cp:revision>
  <dcterms:created xsi:type="dcterms:W3CDTF">2013-01-27T09:14:16Z</dcterms:created>
  <dcterms:modified xsi:type="dcterms:W3CDTF">2026-10-15T13:09:59Z</dcterms:modified>
  <cp:category/>
</cp:coreProperties>
</file>